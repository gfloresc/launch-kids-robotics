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2" r:id="rId2"/>
    <p:sldId id="270" r:id="rId3"/>
    <p:sldId id="281" r:id="rId4"/>
    <p:sldId id="257" r:id="rId5"/>
    <p:sldId id="258" r:id="rId6"/>
    <p:sldId id="259" r:id="rId7"/>
    <p:sldId id="260" r:id="rId8"/>
    <p:sldId id="261" r:id="rId9"/>
    <p:sldId id="274" r:id="rId10"/>
    <p:sldId id="282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45"/>
    <p:restoredTop sz="94658"/>
  </p:normalViewPr>
  <p:slideViewPr>
    <p:cSldViewPr snapToGrid="0">
      <p:cViewPr>
        <p:scale>
          <a:sx n="128" d="100"/>
          <a:sy n="128" d="100"/>
        </p:scale>
        <p:origin x="-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523C7-F4E8-A340-A830-6D95BC860880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A6FE4-9360-B64D-9557-FF029E380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06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A6FE4-9360-B64D-9557-FF029E3809B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76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35A8-9DDC-FE6A-FB47-8801F9EA2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9E94C-6DDB-DE2F-9485-08632F320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93D7C-C658-2266-9F4D-4878C93A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F0CF1-CF21-4A3E-E0DC-D0E216DB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6FFB2-1220-41BE-D240-D7AB7DEE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0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3F83F-5993-7A30-3DD7-6610C464C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E844B-6087-F961-6194-34B917D80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CB740-8987-3711-0E38-6C7CF3B7E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B0A9A-5EC6-D39F-86D9-B1399621D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09FFF-EC1E-B7BA-9C49-6A19D191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13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10323-BD37-CFE9-016B-BCDF4E702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ACD9E-C008-D084-3D81-41EF15C8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AE9C2-6C95-4AEB-AC07-8619149D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93373-55CE-5EEB-6334-610FE5976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1186A-4582-3E7A-C19F-3D8DFE6D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38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1DB2-6A32-F55C-2FA0-8CA445D8A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5453-6FFB-4EA3-4D24-668B6B18A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FC40E-8272-2EC0-BCA9-B759F44B1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DA1C4-A976-F7AF-2CFF-66C0A094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36118-7799-2245-7E68-E188D74B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3B16F-60B6-5CCC-6D54-0F3DA98F3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9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615B-D003-3827-C05A-1190F9A3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52645-7D7B-DB51-4145-5EDFDA324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4C971-4FD8-749A-E934-B6D62D0BB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319D03-6E1F-A708-EF1D-556E4A246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C21884-92D9-441A-31BD-23D14AB21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18E8B-0F81-B353-E2EF-1446A4B7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1DBFF-168D-350B-8A41-8A59803C7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2906B-AF64-80EF-0DDD-121EA451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9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E2649-7D5F-83DE-D88E-B44D3BBC9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E0210-3DB5-DE7A-61CD-D371EBF6C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89396-A4E5-7AEC-4AFC-0C81EDCB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E327C-DDA6-876F-A854-97F40E2F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28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A80C9A-C14D-691A-79F9-67E3EE59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06721-4FDB-40EB-B614-4360BAD4A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C3E1D-3FF9-1F34-DE72-0E10A7F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01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AD07F-7F6E-2B07-8FA0-410FCFB12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D3AD2-9D16-5A66-B284-B70925C67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9C63E-040A-8A4B-5CE5-CCD69EC53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A41B4-B017-00E8-8312-EA01315F9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1064F-3AB7-E668-EB38-7915F69A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0A6FF-14C9-7009-6D56-4A21D950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1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2C133-F262-C972-A67D-3609157D5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EE853-F951-9050-3076-4C0453D78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1CAF9-49A9-6823-B838-F659B6487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43E82-3112-B76B-9CD8-71EA0629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ED6BF-65EA-8FFF-7398-78713EEF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830CE-FD18-2EC4-6EBF-5FC6FF28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3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1E290-D096-549B-6F93-66877D4A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44C07-00EC-B4E4-EFC4-05F9CC069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28D31-378B-B2BB-6006-FE8242EAD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935FF-D2DC-FCED-F153-557D17C29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77A06-2D97-1718-A85B-2E8D19C8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35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9127EF-5FF1-1716-D884-E04D73E9AB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C7935-5614-7F1C-B1A0-918E1E959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7DDE9-BFE0-2C2F-2000-262E5B00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80EC-F06E-E541-9D13-F790F90CFF0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96D4B-A46A-23E3-5286-D47B43319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22FA9-A567-D3F8-740D-8F5E450B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83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92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8182CF-AD9F-B26C-FC7D-76E9F2C3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A588B-9F9C-EB51-2910-97741C3E6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35D2A-95FF-3B7C-0B93-A945541B7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A80EC-F06E-E541-9D13-F790F90CFF0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2BFEF-96B5-D043-7395-B31C73337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66F27-362E-CB83-1AD0-ED35F9BD9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AB3AB-0D6A-8547-BADF-273454F50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0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052A-8D2D-0CCB-4BAB-27EE9C01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F5FF-6DF8-82E4-1782-E8F9C79529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🤖 ROBOTICS COURSE — SESSION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77ABF-3838-9278-FC1F-924508E6A3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Welcome to Robotics!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5DCBB4-AAC2-C38A-5B2A-1B151FD2DA41}"/>
              </a:ext>
            </a:extLst>
          </p:cNvPr>
          <p:cNvSpPr txBox="1"/>
          <p:nvPr/>
        </p:nvSpPr>
        <p:spPr>
          <a:xfrm>
            <a:off x="1251983" y="4527223"/>
            <a:ext cx="99972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Let’s make the robot intelligent with a better performance</a:t>
            </a:r>
          </a:p>
        </p:txBody>
      </p:sp>
    </p:spTree>
    <p:extLst>
      <p:ext uri="{BB962C8B-B14F-4D97-AF65-F5344CB8AC3E}">
        <p14:creationId xmlns:p14="http://schemas.microsoft.com/office/powerpoint/2010/main" val="275377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obot on a road&#10;&#10;AI-generated content may be incorrect.">
            <a:extLst>
              <a:ext uri="{FF2B5EF4-FFF2-40B4-BE49-F238E27FC236}">
                <a16:creationId xmlns:a16="http://schemas.microsoft.com/office/drawing/2014/main" id="{8473D7EA-370F-1E20-6C79-2EF6DB7D8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" y="570341"/>
            <a:ext cx="6097861" cy="60978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CFF4E9-2D3B-70EB-6151-D9B215B3343E}"/>
              </a:ext>
            </a:extLst>
          </p:cNvPr>
          <p:cNvSpPr txBox="1"/>
          <p:nvPr/>
        </p:nvSpPr>
        <p:spPr>
          <a:xfrm>
            <a:off x="6141559" y="270034"/>
            <a:ext cx="55839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🎯 </a:t>
            </a:r>
            <a:r>
              <a:rPr lang="en-US" b="1" dirty="0"/>
              <a:t>TODAY’S GOAL</a:t>
            </a:r>
            <a:endParaRPr lang="en-US" dirty="0"/>
          </a:p>
          <a:p>
            <a:pPr>
              <a:buNone/>
            </a:pPr>
            <a:r>
              <a:rPr lang="en-US" dirty="0"/>
              <a:t>Today students will learn how to make </a:t>
            </a:r>
            <a:r>
              <a:rPr lang="en-US" dirty="0" err="1"/>
              <a:t>Cutebot</a:t>
            </a:r>
            <a:r>
              <a:rPr lang="en-US" dirty="0"/>
              <a:t> smarter </a:t>
            </a:r>
          </a:p>
          <a:p>
            <a:pPr>
              <a:buNone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👁️ </a:t>
            </a:r>
            <a:r>
              <a:rPr lang="en-US" b="1" dirty="0"/>
              <a:t>Use a filter </a:t>
            </a:r>
            <a:r>
              <a:rPr lang="en-US" dirty="0"/>
              <a:t>to make better decisions from noisy sensor readings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📐 </a:t>
            </a:r>
            <a:r>
              <a:rPr lang="en-US" b="1" dirty="0"/>
              <a:t>Apply PD control </a:t>
            </a:r>
            <a:r>
              <a:rPr lang="en-US" dirty="0"/>
              <a:t>to adjust how strongly the robot turns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🔍 </a:t>
            </a:r>
            <a:r>
              <a:rPr lang="en-US" b="1" dirty="0"/>
              <a:t>Create a recovery strategy </a:t>
            </a:r>
            <a:r>
              <a:rPr lang="en-US" dirty="0"/>
              <a:t>so the robot can find the line again if it gets lost</a:t>
            </a:r>
          </a:p>
        </p:txBody>
      </p:sp>
    </p:spTree>
    <p:extLst>
      <p:ext uri="{BB962C8B-B14F-4D97-AF65-F5344CB8AC3E}">
        <p14:creationId xmlns:p14="http://schemas.microsoft.com/office/powerpoint/2010/main" val="216041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402080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6048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</a:rPr>
              <a:t>👁  The Robot Has 2 Eyes (Sensors)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632960" y="1584960"/>
            <a:ext cx="853440" cy="463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4145280" y="2682240"/>
            <a:ext cx="1828800" cy="2438400"/>
          </a:xfrm>
          <a:prstGeom prst="roundRect">
            <a:avLst>
              <a:gd name="adj" fmla="val 13333"/>
            </a:avLst>
          </a:prstGeom>
          <a:solidFill>
            <a:srgbClr val="E8EEF8"/>
          </a:solidFill>
          <a:ln w="381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3596640" y="3048000"/>
            <a:ext cx="512064" cy="1584960"/>
          </a:xfrm>
          <a:prstGeom prst="roundRect">
            <a:avLst>
              <a:gd name="adj" fmla="val 19048"/>
            </a:avLst>
          </a:prstGeom>
          <a:solidFill>
            <a:srgbClr val="888888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010656" y="3048000"/>
            <a:ext cx="512064" cy="1584960"/>
          </a:xfrm>
          <a:prstGeom prst="roundRect">
            <a:avLst>
              <a:gd name="adj" fmla="val 19048"/>
            </a:avLst>
          </a:prstGeom>
          <a:solidFill>
            <a:srgbClr val="888888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4120896" y="2377440"/>
            <a:ext cx="633984" cy="633984"/>
          </a:xfrm>
          <a:prstGeom prst="ellipse">
            <a:avLst/>
          </a:prstGeom>
          <a:solidFill>
            <a:srgbClr val="6BCB77"/>
          </a:solidFill>
          <a:ln w="25400">
            <a:solidFill>
              <a:srgbClr val="3DA85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4120896" y="2377440"/>
            <a:ext cx="63398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L</a:t>
            </a:r>
            <a:endParaRPr lang="en-US" sz="1867" dirty="0"/>
          </a:p>
        </p:txBody>
      </p:sp>
      <p:sp>
        <p:nvSpPr>
          <p:cNvPr id="10" name="Shape 8"/>
          <p:cNvSpPr/>
          <p:nvPr/>
        </p:nvSpPr>
        <p:spPr>
          <a:xfrm>
            <a:off x="5364480" y="2377440"/>
            <a:ext cx="633984" cy="633984"/>
          </a:xfrm>
          <a:prstGeom prst="ellipse">
            <a:avLst/>
          </a:prstGeom>
          <a:solidFill>
            <a:srgbClr val="DDDDDD"/>
          </a:solidFill>
          <a:ln w="254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5364480" y="2377440"/>
            <a:ext cx="63398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999999"/>
                </a:solidFill>
              </a:rPr>
              <a:t>R</a:t>
            </a:r>
            <a:endParaRPr lang="en-US" sz="1867" dirty="0"/>
          </a:p>
        </p:txBody>
      </p:sp>
      <p:sp>
        <p:nvSpPr>
          <p:cNvPr id="12" name="Shape 10"/>
          <p:cNvSpPr/>
          <p:nvPr/>
        </p:nvSpPr>
        <p:spPr>
          <a:xfrm>
            <a:off x="6827520" y="1524000"/>
            <a:ext cx="2377440" cy="2097024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7095744" y="1706880"/>
            <a:ext cx="512064" cy="51206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8375904" y="1706880"/>
            <a:ext cx="512064" cy="51206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7095744" y="1706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L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8375904" y="1706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R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6925056" y="23164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6B6B"/>
                </a:solidFill>
              </a:rPr>
              <a:t>← Left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6925056" y="2804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555555"/>
                </a:solidFill>
              </a:rPr>
              <a:t>Left on line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555555"/>
                </a:solidFill>
              </a:rPr>
              <a:t>Turn LEFT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9387840" y="1524000"/>
            <a:ext cx="2377440" cy="2097024"/>
          </a:xfrm>
          <a:prstGeom prst="rect">
            <a:avLst/>
          </a:prstGeom>
          <a:solidFill>
            <a:srgbClr val="FFFFFF"/>
          </a:solidFill>
          <a:ln w="38100">
            <a:solidFill>
              <a:srgbClr val="4D96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9656064" y="1706880"/>
            <a:ext cx="512064" cy="51206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10936224" y="1706880"/>
            <a:ext cx="512064" cy="512064"/>
          </a:xfrm>
          <a:prstGeom prst="ellipse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9656064" y="1706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L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10936224" y="1706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R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9485376" y="23164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4D96FF"/>
                </a:solidFill>
              </a:rPr>
              <a:t>Right →</a:t>
            </a:r>
            <a:endParaRPr lang="en-US" sz="1867" dirty="0"/>
          </a:p>
        </p:txBody>
      </p:sp>
      <p:sp>
        <p:nvSpPr>
          <p:cNvPr id="25" name="Text 23"/>
          <p:cNvSpPr/>
          <p:nvPr/>
        </p:nvSpPr>
        <p:spPr>
          <a:xfrm>
            <a:off x="9485376" y="2804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555555"/>
                </a:solidFill>
              </a:rPr>
              <a:t>Right on line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555555"/>
                </a:solidFill>
              </a:rPr>
              <a:t>Turn RIGHT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6827520" y="3962400"/>
            <a:ext cx="2377440" cy="2097024"/>
          </a:xfrm>
          <a:prstGeom prst="rect">
            <a:avLst/>
          </a:prstGeom>
          <a:solidFill>
            <a:srgbClr val="FFFFFF"/>
          </a:solidFill>
          <a:ln w="38100">
            <a:solidFill>
              <a:srgbClr val="6BCB77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7095744" y="4145280"/>
            <a:ext cx="512064" cy="512064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8375904" y="4145280"/>
            <a:ext cx="512064" cy="512064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7095744" y="4145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L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8375904" y="4145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R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6925056" y="47548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6BCB77"/>
                </a:solidFill>
              </a:rPr>
              <a:t>↑ Straight</a:t>
            </a:r>
            <a:endParaRPr lang="en-US" sz="1867" dirty="0"/>
          </a:p>
        </p:txBody>
      </p:sp>
      <p:sp>
        <p:nvSpPr>
          <p:cNvPr id="32" name="Text 30"/>
          <p:cNvSpPr/>
          <p:nvPr/>
        </p:nvSpPr>
        <p:spPr>
          <a:xfrm>
            <a:off x="6925056" y="5242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555555"/>
                </a:solidFill>
              </a:rPr>
              <a:t>Both on line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555555"/>
                </a:solidFill>
              </a:rPr>
              <a:t>Go STRAIGHT</a:t>
            </a:r>
            <a:endParaRPr lang="en-US" sz="1333" dirty="0"/>
          </a:p>
        </p:txBody>
      </p:sp>
      <p:sp>
        <p:nvSpPr>
          <p:cNvPr id="33" name="Shape 31"/>
          <p:cNvSpPr/>
          <p:nvPr/>
        </p:nvSpPr>
        <p:spPr>
          <a:xfrm>
            <a:off x="9387840" y="3962400"/>
            <a:ext cx="2377440" cy="2097024"/>
          </a:xfrm>
          <a:prstGeom prst="rect">
            <a:avLst/>
          </a:prstGeom>
          <a:solidFill>
            <a:srgbClr val="FFFFFF"/>
          </a:solidFill>
          <a:ln w="38100">
            <a:solidFill>
              <a:srgbClr val="FF9F43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9656064" y="4145280"/>
            <a:ext cx="512064" cy="51206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10936224" y="4145280"/>
            <a:ext cx="512064" cy="51206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9656064" y="4145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L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10936224" y="4145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R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9485376" y="47548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9F43"/>
                </a:solidFill>
              </a:rPr>
              <a:t>?? Search</a:t>
            </a:r>
            <a:endParaRPr lang="en-US" sz="1867" dirty="0"/>
          </a:p>
        </p:txBody>
      </p:sp>
      <p:sp>
        <p:nvSpPr>
          <p:cNvPr id="39" name="Text 37"/>
          <p:cNvSpPr/>
          <p:nvPr/>
        </p:nvSpPr>
        <p:spPr>
          <a:xfrm>
            <a:off x="9485376" y="5242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555555"/>
                </a:solidFill>
              </a:rPr>
              <a:t>No line seen!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555555"/>
                </a:solidFill>
              </a:rPr>
              <a:t>SEARCH mode</a:t>
            </a:r>
            <a:endParaRPr lang="en-US" sz="1333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A5E5822-F991-A52B-1B02-7CA697FB3845}"/>
              </a:ext>
            </a:extLst>
          </p:cNvPr>
          <p:cNvSpPr/>
          <p:nvPr/>
        </p:nvSpPr>
        <p:spPr>
          <a:xfrm>
            <a:off x="9119616" y="3732028"/>
            <a:ext cx="3072384" cy="29026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63296" y="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</a:rPr>
              <a:t>Code Overview</a:t>
            </a:r>
            <a:endParaRPr lang="en-US" sz="3467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657600" cy="499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657600" cy="670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① Filter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512064" y="2048256"/>
            <a:ext cx="33649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65A82"/>
                </a:solidFill>
              </a:rPr>
              <a:t>45 sensor samples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512064" y="2560320"/>
            <a:ext cx="3364992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334155"/>
                </a:solidFill>
              </a:rPr>
              <a:t>Reads the sensor 45 times per cycle and counts votes. Removes noise so a single false reading doesn't steer the robot.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28160" y="1280160"/>
            <a:ext cx="3657600" cy="499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4328160" y="1280160"/>
            <a:ext cx="3657600" cy="670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4328160" y="1280160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② PD Control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4474464" y="2048256"/>
            <a:ext cx="33649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28090"/>
                </a:solidFill>
              </a:rPr>
              <a:t>Proportional + Derivative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4474464" y="2560320"/>
            <a:ext cx="3364992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334155"/>
                </a:solidFill>
              </a:rPr>
              <a:t>Computes a normalized error and applies kp (strength) and kd (damping) to smoothly correct direction without oscillating.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90560" y="1280160"/>
            <a:ext cx="3657600" cy="499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8290560" y="1280160"/>
            <a:ext cx="3657600" cy="670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8290560" y="1280160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③ Search Mode</a:t>
            </a:r>
            <a:endParaRPr lang="en-US" sz="2133" dirty="0"/>
          </a:p>
        </p:txBody>
      </p:sp>
      <p:sp>
        <p:nvSpPr>
          <p:cNvPr id="18" name="Text 16"/>
          <p:cNvSpPr/>
          <p:nvPr/>
        </p:nvSpPr>
        <p:spPr>
          <a:xfrm>
            <a:off x="8436864" y="2048256"/>
            <a:ext cx="336499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2C39A"/>
                </a:solidFill>
              </a:rPr>
              <a:t>lastError memory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8436864" y="2560320"/>
            <a:ext cx="3364992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334155"/>
                </a:solidFill>
              </a:rPr>
              <a:t>When the line is lost (whiteCount ≥ 30), the robot spins in the direction it last saw the line until it finds it again.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40208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6048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</a:rPr>
              <a:t>🗳  The Filter — Let's Vote! (45 times)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524000"/>
            <a:ext cx="11460480" cy="1219200"/>
          </a:xfrm>
          <a:prstGeom prst="roundRect">
            <a:avLst>
              <a:gd name="adj" fmla="val 15000"/>
            </a:avLst>
          </a:prstGeom>
          <a:solidFill>
            <a:srgbClr val="C77DFF">
              <a:alpha val="12000"/>
            </a:srgbClr>
          </a:solidFill>
          <a:ln w="12700">
            <a:solidFill>
              <a:srgbClr val="C77D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09600" y="15849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3D0060"/>
                </a:solidFill>
              </a:rPr>
              <a:t>The sensor is read 45 times. Each reading is a VOTE  →  the majority wins!</a:t>
            </a:r>
            <a:endParaRPr lang="en-US" sz="2267" dirty="0"/>
          </a:p>
        </p:txBody>
      </p:sp>
      <p:sp>
        <p:nvSpPr>
          <p:cNvPr id="6" name="Shape 4"/>
          <p:cNvSpPr/>
          <p:nvPr/>
        </p:nvSpPr>
        <p:spPr>
          <a:xfrm>
            <a:off x="341376" y="2987040"/>
            <a:ext cx="3657600" cy="3535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341376" y="2987040"/>
            <a:ext cx="3657600" cy="548640"/>
          </a:xfrm>
          <a:prstGeom prst="rect">
            <a:avLst/>
          </a:prstGeom>
          <a:solidFill>
            <a:srgbClr val="F0F0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463296" y="298704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333366"/>
                </a:solidFill>
              </a:rPr>
              <a:t>Robot drifts LEFT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487680" y="3657600"/>
            <a:ext cx="3169920" cy="463296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487680" y="3657600"/>
            <a:ext cx="2167467" cy="46329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512064" y="3657600"/>
            <a:ext cx="31211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/>
              <a:t>← Left votes: 32  (32/45)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487680" y="4389120"/>
            <a:ext cx="3169920" cy="463296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487680" y="4389120"/>
            <a:ext cx="270933" cy="463296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512064" y="4389120"/>
            <a:ext cx="31211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/>
              <a:t>Right votes: 4  (4/45)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487680" y="5120640"/>
            <a:ext cx="3169920" cy="463296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487680" y="5120640"/>
            <a:ext cx="609600" cy="46329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512064" y="5120640"/>
            <a:ext cx="31211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/>
              <a:t>Center: 9  (9/45)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585216" y="5949696"/>
            <a:ext cx="3169920" cy="463296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585216" y="5949696"/>
            <a:ext cx="31699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Turn RIGHT  →</a:t>
            </a:r>
            <a:endParaRPr lang="en-US" sz="1733" dirty="0"/>
          </a:p>
        </p:txBody>
      </p:sp>
      <p:sp>
        <p:nvSpPr>
          <p:cNvPr id="20" name="Shape 18"/>
          <p:cNvSpPr/>
          <p:nvPr/>
        </p:nvSpPr>
        <p:spPr>
          <a:xfrm>
            <a:off x="4242816" y="2987040"/>
            <a:ext cx="3657600" cy="3535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4242816" y="2987040"/>
            <a:ext cx="3657600" cy="548640"/>
          </a:xfrm>
          <a:prstGeom prst="rect">
            <a:avLst/>
          </a:prstGeom>
          <a:solidFill>
            <a:srgbClr val="F0F0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4364736" y="298704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333366"/>
                </a:solidFill>
              </a:rPr>
              <a:t>Robot is CENTERED</a:t>
            </a:r>
            <a:endParaRPr lang="en-US" sz="1733" dirty="0"/>
          </a:p>
        </p:txBody>
      </p:sp>
      <p:sp>
        <p:nvSpPr>
          <p:cNvPr id="23" name="Shape 21"/>
          <p:cNvSpPr/>
          <p:nvPr/>
        </p:nvSpPr>
        <p:spPr>
          <a:xfrm>
            <a:off x="4389120" y="3657600"/>
            <a:ext cx="3169920" cy="463296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4389120" y="3657600"/>
            <a:ext cx="338667" cy="46329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4413504" y="3657600"/>
            <a:ext cx="31211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/>
              <a:t>← Left: 5  (5/45)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4389120" y="4389120"/>
            <a:ext cx="3169920" cy="463296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4389120" y="4389120"/>
            <a:ext cx="406400" cy="463296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4413504" y="4389120"/>
            <a:ext cx="31211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/>
              <a:t>Right: 6 →  (6/45)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4389120" y="5120640"/>
            <a:ext cx="3169920" cy="463296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4389120" y="5120640"/>
            <a:ext cx="2302933" cy="463296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4413504" y="5120640"/>
            <a:ext cx="31211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/>
              <a:t>Center: 34  (34/45)</a:t>
            </a:r>
            <a:endParaRPr lang="en-US" sz="1333" dirty="0"/>
          </a:p>
        </p:txBody>
      </p:sp>
      <p:sp>
        <p:nvSpPr>
          <p:cNvPr id="32" name="Shape 30"/>
          <p:cNvSpPr/>
          <p:nvPr/>
        </p:nvSpPr>
        <p:spPr>
          <a:xfrm>
            <a:off x="4486656" y="5949696"/>
            <a:ext cx="3169920" cy="463296"/>
          </a:xfrm>
          <a:prstGeom prst="roundRect">
            <a:avLst>
              <a:gd name="adj" fmla="val 50000"/>
            </a:avLst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4486656" y="5949696"/>
            <a:ext cx="31699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Go STRAIGHT  ↑</a:t>
            </a:r>
            <a:endParaRPr lang="en-US" sz="1733" dirty="0"/>
          </a:p>
        </p:txBody>
      </p:sp>
      <p:sp>
        <p:nvSpPr>
          <p:cNvPr id="34" name="Shape 32"/>
          <p:cNvSpPr/>
          <p:nvPr/>
        </p:nvSpPr>
        <p:spPr>
          <a:xfrm>
            <a:off x="8144256" y="2987040"/>
            <a:ext cx="3657600" cy="3535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8144256" y="2987040"/>
            <a:ext cx="3657600" cy="548640"/>
          </a:xfrm>
          <a:prstGeom prst="rect">
            <a:avLst/>
          </a:prstGeom>
          <a:solidFill>
            <a:srgbClr val="F0F0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8266176" y="298704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333366"/>
                </a:solidFill>
              </a:rPr>
              <a:t>Robot drifts RIGHT</a:t>
            </a:r>
            <a:endParaRPr lang="en-US" sz="1733" dirty="0"/>
          </a:p>
        </p:txBody>
      </p:sp>
      <p:sp>
        <p:nvSpPr>
          <p:cNvPr id="37" name="Shape 35"/>
          <p:cNvSpPr/>
          <p:nvPr/>
        </p:nvSpPr>
        <p:spPr>
          <a:xfrm>
            <a:off x="8290560" y="3657600"/>
            <a:ext cx="3169920" cy="463296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Shape 36"/>
          <p:cNvSpPr/>
          <p:nvPr/>
        </p:nvSpPr>
        <p:spPr>
          <a:xfrm>
            <a:off x="8290560" y="3657600"/>
            <a:ext cx="270933" cy="46329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8314944" y="3657600"/>
            <a:ext cx="31211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/>
              <a:t>← Left: 4  (4/45)</a:t>
            </a:r>
            <a:endParaRPr lang="en-US" sz="1333" dirty="0"/>
          </a:p>
        </p:txBody>
      </p:sp>
      <p:sp>
        <p:nvSpPr>
          <p:cNvPr id="40" name="Shape 38"/>
          <p:cNvSpPr/>
          <p:nvPr/>
        </p:nvSpPr>
        <p:spPr>
          <a:xfrm>
            <a:off x="8290560" y="4389120"/>
            <a:ext cx="3169920" cy="463296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Shape 39"/>
          <p:cNvSpPr/>
          <p:nvPr/>
        </p:nvSpPr>
        <p:spPr>
          <a:xfrm>
            <a:off x="8290560" y="4389120"/>
            <a:ext cx="2235200" cy="463296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/>
          <p:nvPr/>
        </p:nvSpPr>
        <p:spPr>
          <a:xfrm>
            <a:off x="8314944" y="4389120"/>
            <a:ext cx="31211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/>
              <a:t>Right: 33 →  (33/45)</a:t>
            </a:r>
            <a:endParaRPr lang="en-US" sz="1333" dirty="0"/>
          </a:p>
        </p:txBody>
      </p:sp>
      <p:sp>
        <p:nvSpPr>
          <p:cNvPr id="43" name="Shape 41"/>
          <p:cNvSpPr/>
          <p:nvPr/>
        </p:nvSpPr>
        <p:spPr>
          <a:xfrm>
            <a:off x="8290560" y="5120640"/>
            <a:ext cx="3169920" cy="463296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Shape 42"/>
          <p:cNvSpPr/>
          <p:nvPr/>
        </p:nvSpPr>
        <p:spPr>
          <a:xfrm>
            <a:off x="8290560" y="5120640"/>
            <a:ext cx="541867" cy="46329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Text 43"/>
          <p:cNvSpPr/>
          <p:nvPr/>
        </p:nvSpPr>
        <p:spPr>
          <a:xfrm>
            <a:off x="8314944" y="5120640"/>
            <a:ext cx="31211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/>
              <a:t>Center: 8  (8/45)</a:t>
            </a:r>
            <a:endParaRPr lang="en-US" sz="1333" dirty="0"/>
          </a:p>
        </p:txBody>
      </p:sp>
      <p:sp>
        <p:nvSpPr>
          <p:cNvPr id="46" name="Shape 44"/>
          <p:cNvSpPr/>
          <p:nvPr/>
        </p:nvSpPr>
        <p:spPr>
          <a:xfrm>
            <a:off x="8388096" y="5949696"/>
            <a:ext cx="3169920" cy="463296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45"/>
          <p:cNvSpPr/>
          <p:nvPr/>
        </p:nvSpPr>
        <p:spPr>
          <a:xfrm>
            <a:off x="8388096" y="5949696"/>
            <a:ext cx="31699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Turn LEFT  ←</a:t>
            </a:r>
            <a:endParaRPr lang="en-US" sz="17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40208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6048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</a:rPr>
              <a:t>📐  PD Control — How Hard Should It Turn?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65760" y="1584960"/>
            <a:ext cx="5364480" cy="4815840"/>
          </a:xfrm>
          <a:prstGeom prst="rect">
            <a:avLst/>
          </a:prstGeom>
          <a:solidFill>
            <a:srgbClr val="FFFFFF"/>
          </a:solidFill>
          <a:ln w="38100">
            <a:solidFill>
              <a:srgbClr val="6BCB77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365760" y="1584960"/>
            <a:ext cx="5364480" cy="73152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487680" y="1584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FFFFFF"/>
                </a:solidFill>
              </a:rPr>
              <a:t>kp = 55  (Strength)</a:t>
            </a:r>
            <a:endParaRPr lang="en-US" sz="2267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950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444444"/>
                </a:solidFill>
              </a:rPr>
              <a:t>Small drift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38400" y="2560320"/>
            <a:ext cx="365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4748B"/>
                </a:solidFill>
              </a:rPr>
              <a:t>→</a:t>
            </a:r>
            <a:endParaRPr lang="en-US" sz="2133" dirty="0"/>
          </a:p>
        </p:txBody>
      </p:sp>
      <p:sp>
        <p:nvSpPr>
          <p:cNvPr id="9" name="Shape 7"/>
          <p:cNvSpPr/>
          <p:nvPr/>
        </p:nvSpPr>
        <p:spPr>
          <a:xfrm>
            <a:off x="2865120" y="2609088"/>
            <a:ext cx="1047661" cy="36576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2901696" y="2560320"/>
            <a:ext cx="1219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Gentle turn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548640" y="3901440"/>
            <a:ext cx="1950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444444"/>
                </a:solidFill>
              </a:rPr>
              <a:t>Medium drift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38400" y="3901440"/>
            <a:ext cx="365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4748B"/>
                </a:solidFill>
              </a:rPr>
              <a:t>→</a:t>
            </a:r>
            <a:endParaRPr lang="en-US" sz="2133" dirty="0"/>
          </a:p>
        </p:txBody>
      </p:sp>
      <p:sp>
        <p:nvSpPr>
          <p:cNvPr id="13" name="Shape 11"/>
          <p:cNvSpPr/>
          <p:nvPr/>
        </p:nvSpPr>
        <p:spPr>
          <a:xfrm>
            <a:off x="2865120" y="3950208"/>
            <a:ext cx="1621820" cy="36576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2901696" y="3901440"/>
            <a:ext cx="2194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Medium turn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548640" y="5242560"/>
            <a:ext cx="1950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444444"/>
                </a:solidFill>
              </a:rPr>
              <a:t>Big drift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38400" y="5242560"/>
            <a:ext cx="365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4748B"/>
                </a:solidFill>
              </a:rPr>
              <a:t>→</a:t>
            </a:r>
            <a:endParaRPr lang="en-US" sz="2133" dirty="0"/>
          </a:p>
        </p:txBody>
      </p:sp>
      <p:sp>
        <p:nvSpPr>
          <p:cNvPr id="17" name="Shape 15"/>
          <p:cNvSpPr/>
          <p:nvPr/>
        </p:nvSpPr>
        <p:spPr>
          <a:xfrm>
            <a:off x="2865120" y="5291328"/>
            <a:ext cx="2743200" cy="365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2901696" y="5242560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Sharp turn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487680" y="6156960"/>
            <a:ext cx="5120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3DA850"/>
                </a:solidFill>
              </a:rPr>
              <a:t>More drift  =  More correction!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6461760" y="1584960"/>
            <a:ext cx="5364480" cy="48158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9F43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6461760" y="1584960"/>
            <a:ext cx="5364480" cy="7315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583680" y="1584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FFFFFF"/>
                </a:solidFill>
              </a:rPr>
              <a:t>kd = 20  (Brakes)</a:t>
            </a:r>
            <a:endParaRPr lang="en-US" sz="2267" dirty="0"/>
          </a:p>
        </p:txBody>
      </p:sp>
      <p:sp>
        <p:nvSpPr>
          <p:cNvPr id="23" name="Shape 21"/>
          <p:cNvSpPr/>
          <p:nvPr/>
        </p:nvSpPr>
        <p:spPr>
          <a:xfrm>
            <a:off x="6705600" y="2499360"/>
            <a:ext cx="4632960" cy="219456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6705600" y="2572512"/>
            <a:ext cx="463296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583680" y="2865120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6B6B"/>
                </a:solidFill>
              </a:rPr>
              <a:t>Without kd:</a:t>
            </a:r>
            <a:endParaRPr lang="en-US" sz="1733" dirty="0"/>
          </a:p>
        </p:txBody>
      </p:sp>
      <p:sp>
        <p:nvSpPr>
          <p:cNvPr id="26" name="Shape 24"/>
          <p:cNvSpPr/>
          <p:nvPr/>
        </p:nvSpPr>
        <p:spPr>
          <a:xfrm>
            <a:off x="6766560" y="3438144"/>
            <a:ext cx="698677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7376161" y="3779520"/>
            <a:ext cx="765673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7985760" y="3316224"/>
            <a:ext cx="780669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8595361" y="3803904"/>
            <a:ext cx="796129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9204960" y="3291840"/>
            <a:ext cx="780669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Shape 29"/>
          <p:cNvSpPr/>
          <p:nvPr/>
        </p:nvSpPr>
        <p:spPr>
          <a:xfrm>
            <a:off x="9814560" y="3779520"/>
            <a:ext cx="744112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Shape 30"/>
          <p:cNvSpPr/>
          <p:nvPr/>
        </p:nvSpPr>
        <p:spPr>
          <a:xfrm>
            <a:off x="10424160" y="3352800"/>
            <a:ext cx="6096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6583680" y="3901440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FF6B6B"/>
                </a:solidFill>
              </a:rPr>
              <a:t>😵 Oscillates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83680" y="4450080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6BCB77"/>
                </a:solidFill>
              </a:rPr>
              <a:t>With kd:</a:t>
            </a:r>
            <a:endParaRPr lang="en-US" sz="1733" dirty="0"/>
          </a:p>
        </p:txBody>
      </p:sp>
      <p:sp>
        <p:nvSpPr>
          <p:cNvPr id="35" name="Shape 33"/>
          <p:cNvSpPr/>
          <p:nvPr/>
        </p:nvSpPr>
        <p:spPr>
          <a:xfrm>
            <a:off x="6766561" y="5059680"/>
            <a:ext cx="837692" cy="85344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Shape 34"/>
          <p:cNvSpPr/>
          <p:nvPr/>
        </p:nvSpPr>
        <p:spPr>
          <a:xfrm>
            <a:off x="7559041" y="4876800"/>
            <a:ext cx="880953" cy="85344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Shape 35"/>
          <p:cNvSpPr/>
          <p:nvPr/>
        </p:nvSpPr>
        <p:spPr>
          <a:xfrm>
            <a:off x="8412480" y="4803648"/>
            <a:ext cx="878608" cy="85344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Shape 36"/>
          <p:cNvSpPr/>
          <p:nvPr/>
        </p:nvSpPr>
        <p:spPr>
          <a:xfrm>
            <a:off x="9265920" y="4767072"/>
            <a:ext cx="756005" cy="85344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Shape 37"/>
          <p:cNvSpPr/>
          <p:nvPr/>
        </p:nvSpPr>
        <p:spPr>
          <a:xfrm>
            <a:off x="9997440" y="4754880"/>
            <a:ext cx="938784" cy="85344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6583680" y="5218176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BCB77"/>
                </a:solidFill>
              </a:rPr>
              <a:t>😊 Smooth curve!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83680" y="5791200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CC6600"/>
                </a:solidFill>
              </a:rPr>
              <a:t>kd brakes before overshoot!</a:t>
            </a:r>
            <a:endParaRPr lang="en-US" sz="146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4020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6048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</a:rPr>
              <a:t>🔍  Search Mode — Find the Line Again!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3596640" cy="4170089"/>
          </a:xfrm>
          <a:prstGeom prst="rect">
            <a:avLst/>
          </a:prstGeom>
          <a:solidFill>
            <a:srgbClr val="FFFFFF"/>
          </a:solidFill>
          <a:ln w="38100">
            <a:solidFill>
              <a:srgbClr val="6BCB77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596640" cy="67056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487680" y="1645920"/>
            <a:ext cx="335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1  On the Line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93961" y="2621280"/>
            <a:ext cx="426720" cy="1584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2133600" cy="1341120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254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158240" y="2779776"/>
            <a:ext cx="512064" cy="512064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2682240" y="2779776"/>
            <a:ext cx="512064" cy="51206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1158240" y="2779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L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2682240" y="2779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R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060704" y="4663440"/>
            <a:ext cx="2170176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334155"/>
                </a:solidFill>
              </a:rPr>
              <a:t>Robot follows the line.</a:t>
            </a:r>
            <a:endParaRPr lang="en-US" sz="1733" dirty="0"/>
          </a:p>
          <a:p>
            <a:r>
              <a:rPr lang="en-US" sz="1733" dirty="0">
                <a:solidFill>
                  <a:srgbClr val="334155"/>
                </a:solidFill>
              </a:rPr>
              <a:t>lastError remembers</a:t>
            </a:r>
            <a:endParaRPr lang="en-US" sz="1733" dirty="0"/>
          </a:p>
          <a:p>
            <a:r>
              <a:rPr lang="en-US" sz="1733" dirty="0">
                <a:solidFill>
                  <a:srgbClr val="334155"/>
                </a:solidFill>
              </a:rPr>
              <a:t>which side it drifted.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3998976" y="3779520"/>
            <a:ext cx="2682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9F43"/>
                </a:solidFill>
              </a:rPr>
              <a:t>→</a:t>
            </a:r>
            <a:endParaRPr lang="en-US" sz="2933" dirty="0"/>
          </a:p>
        </p:txBody>
      </p:sp>
      <p:sp>
        <p:nvSpPr>
          <p:cNvPr id="15" name="Shape 13"/>
          <p:cNvSpPr/>
          <p:nvPr/>
        </p:nvSpPr>
        <p:spPr>
          <a:xfrm>
            <a:off x="4267200" y="1645920"/>
            <a:ext cx="3596640" cy="4170089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6B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4267200" y="1645920"/>
            <a:ext cx="3596640" cy="670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4389120" y="1645920"/>
            <a:ext cx="335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2  Line Lost! 😱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864352" y="2621280"/>
            <a:ext cx="426720" cy="15849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4998720" y="2926080"/>
            <a:ext cx="2133600" cy="1341120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5059680" y="2779776"/>
            <a:ext cx="512064" cy="51206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6583680" y="2779776"/>
            <a:ext cx="512064" cy="51206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5059680" y="2779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L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6583680" y="2779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R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5181600" y="4599645"/>
            <a:ext cx="2027274" cy="854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334155"/>
                </a:solidFill>
              </a:rPr>
              <a:t>30+ white readings.</a:t>
            </a:r>
            <a:endParaRPr lang="en-US" sz="1733" dirty="0"/>
          </a:p>
          <a:p>
            <a:r>
              <a:rPr lang="en-US" sz="1733" dirty="0">
                <a:solidFill>
                  <a:srgbClr val="334155"/>
                </a:solidFill>
              </a:rPr>
              <a:t>whiteCount ≥ 30</a:t>
            </a:r>
            <a:endParaRPr lang="en-US" sz="1733" dirty="0"/>
          </a:p>
          <a:p>
            <a:r>
              <a:rPr lang="en-US" sz="1733" dirty="0">
                <a:solidFill>
                  <a:srgbClr val="334155"/>
                </a:solidFill>
              </a:rPr>
              <a:t>→ SEARCH MODE!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7900416" y="3779520"/>
            <a:ext cx="2682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9F43"/>
                </a:solidFill>
              </a:rPr>
              <a:t>→</a:t>
            </a:r>
            <a:endParaRPr lang="en-US" sz="2933" dirty="0"/>
          </a:p>
        </p:txBody>
      </p:sp>
      <p:sp>
        <p:nvSpPr>
          <p:cNvPr id="26" name="Shape 24"/>
          <p:cNvSpPr/>
          <p:nvPr/>
        </p:nvSpPr>
        <p:spPr>
          <a:xfrm>
            <a:off x="8168640" y="1645920"/>
            <a:ext cx="3596640" cy="4170089"/>
          </a:xfrm>
          <a:prstGeom prst="rect">
            <a:avLst/>
          </a:prstGeom>
          <a:solidFill>
            <a:srgbClr val="FFFFFF"/>
          </a:solidFill>
          <a:ln w="38100">
            <a:solidFill>
              <a:srgbClr val="FF9F43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8168640" y="1645920"/>
            <a:ext cx="3596640" cy="67056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8290560" y="1645920"/>
            <a:ext cx="335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3  Searching...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765792" y="2621280"/>
            <a:ext cx="426720" cy="15849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8900160" y="2926080"/>
            <a:ext cx="2133600" cy="1341120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254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Shape 29"/>
          <p:cNvSpPr/>
          <p:nvPr/>
        </p:nvSpPr>
        <p:spPr>
          <a:xfrm>
            <a:off x="8961120" y="2779776"/>
            <a:ext cx="512064" cy="51206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Shape 30"/>
          <p:cNvSpPr/>
          <p:nvPr/>
        </p:nvSpPr>
        <p:spPr>
          <a:xfrm>
            <a:off x="10485120" y="2779776"/>
            <a:ext cx="512064" cy="51206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8961120" y="2779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L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10485120" y="2779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R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8961120" y="4517420"/>
            <a:ext cx="2381409" cy="854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334155"/>
                </a:solidFill>
              </a:rPr>
              <a:t>Spin the way lastError</a:t>
            </a:r>
            <a:endParaRPr lang="en-US" sz="1733" dirty="0"/>
          </a:p>
          <a:p>
            <a:r>
              <a:rPr lang="en-US" sz="1733" dirty="0">
                <a:solidFill>
                  <a:srgbClr val="334155"/>
                </a:solidFill>
              </a:rPr>
              <a:t>points. Keep spinning</a:t>
            </a:r>
            <a:endParaRPr lang="en-US" sz="1733" dirty="0"/>
          </a:p>
          <a:p>
            <a:r>
              <a:rPr lang="en-US" sz="1733" dirty="0">
                <a:solidFill>
                  <a:srgbClr val="334155"/>
                </a:solidFill>
              </a:rPr>
              <a:t>until line found!</a:t>
            </a:r>
            <a:endParaRPr lang="en-US" sz="1733" dirty="0"/>
          </a:p>
        </p:txBody>
      </p:sp>
      <p:sp>
        <p:nvSpPr>
          <p:cNvPr id="36" name="Shape 34"/>
          <p:cNvSpPr/>
          <p:nvPr/>
        </p:nvSpPr>
        <p:spPr>
          <a:xfrm>
            <a:off x="365760" y="6156960"/>
            <a:ext cx="11460480" cy="512064"/>
          </a:xfrm>
          <a:prstGeom prst="roundRect">
            <a:avLst>
              <a:gd name="adj" fmla="val 28571"/>
            </a:avLst>
          </a:prstGeom>
          <a:solidFill>
            <a:srgbClr val="FF9F43">
              <a:alpha val="15000"/>
            </a:srgbClr>
          </a:solidFill>
          <a:ln w="12700">
            <a:solidFill>
              <a:srgbClr val="FF9F4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609600" y="61569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7C3A00"/>
                </a:solidFill>
              </a:rPr>
              <a:t>🧠  lastError = memory!  Robot always knows which way to turn.</a:t>
            </a:r>
            <a:endParaRPr lang="en-US" sz="18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1524000"/>
            <a:ext cx="2657856" cy="3901440"/>
          </a:xfrm>
          <a:prstGeom prst="roundRect">
            <a:avLst>
              <a:gd name="adj" fmla="val 6881"/>
            </a:avLst>
          </a:prstGeom>
          <a:solidFill>
            <a:srgbClr val="0D2137"/>
          </a:solidFill>
          <a:ln w="381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365760" y="1524000"/>
            <a:ext cx="2657856" cy="914400"/>
          </a:xfrm>
          <a:prstGeom prst="roundRect">
            <a:avLst>
              <a:gd name="adj" fmla="val 20000"/>
            </a:avLst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365760" y="1950720"/>
            <a:ext cx="2657856" cy="487680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365760" y="1560576"/>
            <a:ext cx="2657856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1A1A2E"/>
                </a:solidFill>
              </a:rPr>
              <a:t>👁</a:t>
            </a:r>
            <a:endParaRPr lang="en-US" sz="2933" dirty="0"/>
          </a:p>
        </p:txBody>
      </p:sp>
      <p:sp>
        <p:nvSpPr>
          <p:cNvPr id="7" name="Text 5"/>
          <p:cNvSpPr/>
          <p:nvPr/>
        </p:nvSpPr>
        <p:spPr>
          <a:xfrm>
            <a:off x="463296" y="2535936"/>
            <a:ext cx="24627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4D96FF"/>
                </a:solidFill>
              </a:rPr>
              <a:t>① Sample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7680" y="3194304"/>
            <a:ext cx="243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FFFFFF"/>
                </a:solidFill>
              </a:rPr>
              <a:t>Read sensor</a:t>
            </a:r>
            <a:endParaRPr lang="en-US" sz="1733" dirty="0"/>
          </a:p>
          <a:p>
            <a:pPr algn="ctr"/>
            <a:r>
              <a:rPr lang="en-US" sz="1733" dirty="0">
                <a:solidFill>
                  <a:srgbClr val="FFFFFF"/>
                </a:solidFill>
              </a:rPr>
              <a:t>45 times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3023616" y="31089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64748B"/>
                </a:solidFill>
              </a:rPr>
              <a:t>→</a:t>
            </a:r>
            <a:endParaRPr lang="en-US" sz="2667" dirty="0"/>
          </a:p>
        </p:txBody>
      </p:sp>
      <p:sp>
        <p:nvSpPr>
          <p:cNvPr id="10" name="Shape 8"/>
          <p:cNvSpPr/>
          <p:nvPr/>
        </p:nvSpPr>
        <p:spPr>
          <a:xfrm>
            <a:off x="3316224" y="1524000"/>
            <a:ext cx="2657856" cy="3901440"/>
          </a:xfrm>
          <a:prstGeom prst="roundRect">
            <a:avLst>
              <a:gd name="adj" fmla="val 6881"/>
            </a:avLst>
          </a:prstGeom>
          <a:solidFill>
            <a:srgbClr val="0D2137"/>
          </a:solidFill>
          <a:ln w="381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3316224" y="1524000"/>
            <a:ext cx="2657856" cy="914400"/>
          </a:xfrm>
          <a:prstGeom prst="roundRect">
            <a:avLst>
              <a:gd name="adj" fmla="val 20000"/>
            </a:avLst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3316224" y="1950720"/>
            <a:ext cx="2657856" cy="48768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3316224" y="1560576"/>
            <a:ext cx="2657856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1A1A2E"/>
                </a:solidFill>
              </a:rPr>
              <a:t>🗳</a:t>
            </a:r>
            <a:endParaRPr lang="en-US" sz="2933" dirty="0"/>
          </a:p>
        </p:txBody>
      </p:sp>
      <p:sp>
        <p:nvSpPr>
          <p:cNvPr id="14" name="Text 12"/>
          <p:cNvSpPr/>
          <p:nvPr/>
        </p:nvSpPr>
        <p:spPr>
          <a:xfrm>
            <a:off x="3413760" y="2535936"/>
            <a:ext cx="24627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C77DFF"/>
                </a:solidFill>
              </a:rPr>
              <a:t>② Filter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38144" y="3194304"/>
            <a:ext cx="243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FFFFFF"/>
                </a:solidFill>
              </a:rPr>
              <a:t>Count votes</a:t>
            </a:r>
            <a:endParaRPr lang="en-US" sz="1733" dirty="0"/>
          </a:p>
          <a:p>
            <a:pPr algn="ctr"/>
            <a:r>
              <a:rPr lang="en-US" sz="1733" dirty="0">
                <a:solidFill>
                  <a:srgbClr val="FFFFFF"/>
                </a:solidFill>
              </a:rPr>
              <a:t>Find majority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5974080" y="31089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64748B"/>
                </a:solidFill>
              </a:rPr>
              <a:t>→</a:t>
            </a:r>
            <a:endParaRPr lang="en-US" sz="2667" dirty="0"/>
          </a:p>
        </p:txBody>
      </p:sp>
      <p:sp>
        <p:nvSpPr>
          <p:cNvPr id="17" name="Shape 15"/>
          <p:cNvSpPr/>
          <p:nvPr/>
        </p:nvSpPr>
        <p:spPr>
          <a:xfrm>
            <a:off x="6266688" y="1524000"/>
            <a:ext cx="2657856" cy="3901440"/>
          </a:xfrm>
          <a:prstGeom prst="roundRect">
            <a:avLst>
              <a:gd name="adj" fmla="val 6881"/>
            </a:avLst>
          </a:prstGeom>
          <a:solidFill>
            <a:srgbClr val="0D2137"/>
          </a:solidFill>
          <a:ln w="381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6266688" y="1524000"/>
            <a:ext cx="2657856" cy="914400"/>
          </a:xfrm>
          <a:prstGeom prst="roundRect">
            <a:avLst>
              <a:gd name="adj" fmla="val 20000"/>
            </a:avLst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6266688" y="1950720"/>
            <a:ext cx="2657856" cy="48768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6266688" y="1560576"/>
            <a:ext cx="2657856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1A1A2E"/>
                </a:solidFill>
              </a:rPr>
              <a:t>📐</a:t>
            </a:r>
            <a:endParaRPr lang="en-US" sz="2933" dirty="0"/>
          </a:p>
        </p:txBody>
      </p:sp>
      <p:sp>
        <p:nvSpPr>
          <p:cNvPr id="21" name="Text 19"/>
          <p:cNvSpPr/>
          <p:nvPr/>
        </p:nvSpPr>
        <p:spPr>
          <a:xfrm>
            <a:off x="6364224" y="2535936"/>
            <a:ext cx="24627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6BCB77"/>
                </a:solidFill>
              </a:rPr>
              <a:t>③ Control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88608" y="3194304"/>
            <a:ext cx="243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FFFFFF"/>
                </a:solidFill>
              </a:rPr>
              <a:t>kp × error</a:t>
            </a:r>
            <a:endParaRPr lang="en-US" sz="1733" dirty="0"/>
          </a:p>
          <a:p>
            <a:pPr algn="ctr"/>
            <a:r>
              <a:rPr lang="en-US" sz="1733" dirty="0">
                <a:solidFill>
                  <a:srgbClr val="FFFFFF"/>
                </a:solidFill>
              </a:rPr>
              <a:t>+ kd × change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8924544" y="31089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64748B"/>
                </a:solidFill>
              </a:rPr>
              <a:t>→</a:t>
            </a:r>
            <a:endParaRPr lang="en-US" sz="2667" dirty="0"/>
          </a:p>
        </p:txBody>
      </p:sp>
      <p:sp>
        <p:nvSpPr>
          <p:cNvPr id="24" name="Shape 22"/>
          <p:cNvSpPr/>
          <p:nvPr/>
        </p:nvSpPr>
        <p:spPr>
          <a:xfrm>
            <a:off x="9217152" y="1524000"/>
            <a:ext cx="2657856" cy="3901440"/>
          </a:xfrm>
          <a:prstGeom prst="roundRect">
            <a:avLst>
              <a:gd name="adj" fmla="val 6881"/>
            </a:avLst>
          </a:prstGeom>
          <a:solidFill>
            <a:srgbClr val="0D2137"/>
          </a:solidFill>
          <a:ln w="381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9217152" y="1524000"/>
            <a:ext cx="2657856" cy="914400"/>
          </a:xfrm>
          <a:prstGeom prst="roundRect">
            <a:avLst>
              <a:gd name="adj" fmla="val 20000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9217152" y="1950720"/>
            <a:ext cx="2657856" cy="48768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9217152" y="1560576"/>
            <a:ext cx="2657856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1A1A2E"/>
                </a:solidFill>
              </a:rPr>
              <a:t>🚗</a:t>
            </a:r>
            <a:endParaRPr lang="en-US" sz="2933" dirty="0"/>
          </a:p>
        </p:txBody>
      </p:sp>
      <p:sp>
        <p:nvSpPr>
          <p:cNvPr id="28" name="Text 26"/>
          <p:cNvSpPr/>
          <p:nvPr/>
        </p:nvSpPr>
        <p:spPr>
          <a:xfrm>
            <a:off x="9314688" y="2535936"/>
            <a:ext cx="24627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D93D"/>
                </a:solidFill>
              </a:rPr>
              <a:t>④ Move!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339072" y="3194304"/>
            <a:ext cx="243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FFFFFF"/>
                </a:solidFill>
              </a:rPr>
              <a:t>Set wheel</a:t>
            </a:r>
            <a:endParaRPr lang="en-US" sz="1733" dirty="0"/>
          </a:p>
          <a:p>
            <a:pPr algn="ctr"/>
            <a:r>
              <a:rPr lang="en-US" sz="1733" dirty="0">
                <a:solidFill>
                  <a:srgbClr val="FFFFFF"/>
                </a:solidFill>
              </a:rPr>
              <a:t>speeds</a:t>
            </a:r>
            <a:endParaRPr lang="en-US" sz="1733" dirty="0"/>
          </a:p>
        </p:txBody>
      </p:sp>
      <p:sp>
        <p:nvSpPr>
          <p:cNvPr id="30" name="Shape 28"/>
          <p:cNvSpPr/>
          <p:nvPr/>
        </p:nvSpPr>
        <p:spPr>
          <a:xfrm>
            <a:off x="365760" y="5669280"/>
            <a:ext cx="11460480" cy="877824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31520" y="761149"/>
            <a:ext cx="2194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4748B"/>
                </a:solidFill>
              </a:rPr>
              <a:t>⚙️  Parameters:</a:t>
            </a:r>
            <a:endParaRPr lang="en-US" sz="1733" dirty="0"/>
          </a:p>
        </p:txBody>
      </p:sp>
      <p:sp>
        <p:nvSpPr>
          <p:cNvPr id="32" name="Text 30"/>
          <p:cNvSpPr/>
          <p:nvPr/>
        </p:nvSpPr>
        <p:spPr>
          <a:xfrm>
            <a:off x="544033" y="5742432"/>
            <a:ext cx="1838015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baseStraight =  45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3169920" y="5754624"/>
            <a:ext cx="1341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baseTurn = 30</a:t>
            </a:r>
            <a:endParaRPr lang="en-US" sz="1333" dirty="0"/>
          </a:p>
        </p:txBody>
      </p:sp>
      <p:sp>
        <p:nvSpPr>
          <p:cNvPr id="36" name="Text 34"/>
          <p:cNvSpPr/>
          <p:nvPr/>
        </p:nvSpPr>
        <p:spPr>
          <a:xfrm>
            <a:off x="5120640" y="5754624"/>
            <a:ext cx="1341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 = 55</a:t>
            </a:r>
            <a:endParaRPr lang="en-US" sz="1333" dirty="0"/>
          </a:p>
        </p:txBody>
      </p:sp>
      <p:sp>
        <p:nvSpPr>
          <p:cNvPr id="38" name="Text 36"/>
          <p:cNvSpPr/>
          <p:nvPr/>
        </p:nvSpPr>
        <p:spPr>
          <a:xfrm>
            <a:off x="6437376" y="5747536"/>
            <a:ext cx="1341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</a:t>
            </a:r>
            <a:r>
              <a:rPr lang="en-US" sz="1333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20 </a:t>
            </a:r>
            <a:endParaRPr lang="en-US" sz="1333" dirty="0"/>
          </a:p>
        </p:txBody>
      </p:sp>
      <p:sp>
        <p:nvSpPr>
          <p:cNvPr id="40" name="Text 38"/>
          <p:cNvSpPr/>
          <p:nvPr/>
        </p:nvSpPr>
        <p:spPr>
          <a:xfrm>
            <a:off x="7583424" y="5747536"/>
            <a:ext cx="159913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searchSpeed = 45</a:t>
            </a:r>
            <a:endParaRPr lang="en-US" sz="1333" dirty="0"/>
          </a:p>
        </p:txBody>
      </p:sp>
      <p:sp>
        <p:nvSpPr>
          <p:cNvPr id="42" name="Text 40"/>
          <p:cNvSpPr/>
          <p:nvPr/>
        </p:nvSpPr>
        <p:spPr>
          <a:xfrm>
            <a:off x="9509760" y="5705856"/>
            <a:ext cx="1341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 = 45</a:t>
            </a:r>
            <a:endParaRPr lang="en-US" sz="1333" dirty="0"/>
          </a:p>
        </p:txBody>
      </p:sp>
      <p:sp>
        <p:nvSpPr>
          <p:cNvPr id="44" name="Text 42"/>
          <p:cNvSpPr/>
          <p:nvPr/>
        </p:nvSpPr>
        <p:spPr>
          <a:xfrm>
            <a:off x="10850880" y="5705856"/>
            <a:ext cx="1341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= </a:t>
            </a:r>
            <a:endParaRPr lang="en-US" sz="1333" dirty="0"/>
          </a:p>
        </p:txBody>
      </p:sp>
      <p:sp>
        <p:nvSpPr>
          <p:cNvPr id="45" name="Text 43"/>
          <p:cNvSpPr/>
          <p:nvPr/>
        </p:nvSpPr>
        <p:spPr>
          <a:xfrm>
            <a:off x="10850880" y="6083808"/>
            <a:ext cx="1341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±5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63296" y="947857"/>
            <a:ext cx="11460480" cy="487680"/>
          </a:xfrm>
          <a:prstGeom prst="roundRect">
            <a:avLst>
              <a:gd name="adj" fmla="val 25000"/>
            </a:avLst>
          </a:prstGeom>
          <a:solidFill>
            <a:srgbClr val="FF9F43">
              <a:alpha val="10000"/>
            </a:srgbClr>
          </a:solidFill>
          <a:ln w="12700">
            <a:solidFill>
              <a:srgbClr val="FF9F4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573024" y="6132576"/>
            <a:ext cx="11094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9F43"/>
                </a:solidFill>
              </a:rPr>
              <a:t>🔍  If </a:t>
            </a:r>
            <a:r>
              <a:rPr lang="en-US" sz="1467" dirty="0" err="1">
                <a:solidFill>
                  <a:srgbClr val="FF9F43"/>
                </a:solidFill>
              </a:rPr>
              <a:t>whiteCount</a:t>
            </a:r>
            <a:r>
              <a:rPr lang="en-US" sz="1467" dirty="0">
                <a:solidFill>
                  <a:srgbClr val="FF9F43"/>
                </a:solidFill>
              </a:rPr>
              <a:t> ≥ 30  →  Skip control  →  Spin toward </a:t>
            </a:r>
            <a:r>
              <a:rPr lang="en-US" sz="1467" b="1" dirty="0">
                <a:solidFill>
                  <a:srgbClr val="FF9F43"/>
                </a:solidFill>
              </a:rPr>
              <a:t>lastError</a:t>
            </a:r>
            <a:r>
              <a:rPr lang="en-US" sz="1467" dirty="0">
                <a:solidFill>
                  <a:srgbClr val="FF9F43"/>
                </a:solidFill>
              </a:rPr>
              <a:t> direction until line is found again!</a:t>
            </a:r>
            <a:endParaRPr lang="en-US" sz="146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D33B47-5D30-F62A-BA12-9D8D68FC7A1C}"/>
              </a:ext>
            </a:extLst>
          </p:cNvPr>
          <p:cNvSpPr txBox="1"/>
          <p:nvPr/>
        </p:nvSpPr>
        <p:spPr>
          <a:xfrm>
            <a:off x="244063" y="209015"/>
            <a:ext cx="3161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👨‍💻 ROBOT CODE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98343E-9850-8E17-DBFB-62046883C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37" y="603019"/>
            <a:ext cx="9719930" cy="614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87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FA2684-B713-94D9-52E1-A3C9977E2C1F}"/>
              </a:ext>
            </a:extLst>
          </p:cNvPr>
          <p:cNvSpPr txBox="1"/>
          <p:nvPr/>
        </p:nvSpPr>
        <p:spPr>
          <a:xfrm>
            <a:off x="424543" y="228123"/>
            <a:ext cx="10384972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normError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whiteCount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baseStraight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searchSpeed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</a:t>
            </a:r>
          </a:p>
          <a:p>
            <a:pPr>
              <a:buNone/>
            </a:pP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basic.showIcon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IconNames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basic.forever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pPr lvl="1"/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whiteCount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index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index &lt;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index++) {</a:t>
            </a:r>
          </a:p>
          <a:p>
            <a:pPr lvl="2"/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intersección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cuteBot.tracking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cuteBot.</a:t>
            </a:r>
            <a:r>
              <a:rPr lang="en-US" sz="10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TrackingState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L_line_R_unline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 lvl="2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-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cuteBot.tracking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cuteBot.</a:t>
            </a:r>
            <a:r>
              <a:rPr lang="en-US" sz="10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TrackingState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L_unline_R_line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 lvl="2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cuteBot.tracking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cuteBot.</a:t>
            </a:r>
            <a:r>
              <a:rPr lang="en-US" sz="10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TrackingState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L_R_line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 lvl="2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whiteCount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normError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normError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lastError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whiteCount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cuteBot.motors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searchSpeed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searchSpeed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-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cuteBot.motors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baseStraight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normError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baseStraight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normError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dError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721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DB268B-B344-AA6F-A367-45BB4716485D}"/>
              </a:ext>
            </a:extLst>
          </p:cNvPr>
          <p:cNvCxnSpPr>
            <a:cxnSpLocks/>
          </p:cNvCxnSpPr>
          <p:nvPr/>
        </p:nvCxnSpPr>
        <p:spPr>
          <a:xfrm>
            <a:off x="5613991" y="223284"/>
            <a:ext cx="0" cy="64433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CA9271E-0BD0-E4BA-88F9-9D67C5A63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21" y="223284"/>
            <a:ext cx="4460513" cy="40979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DF4343-0157-91BD-B321-2D93470D9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543" y="223284"/>
            <a:ext cx="4918155" cy="623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82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10591</TotalTime>
  <Words>789</Words>
  <Application>Microsoft Macintosh PowerPoint</Application>
  <PresentationFormat>Widescreen</PresentationFormat>
  <Paragraphs>176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Office Theme</vt:lpstr>
      <vt:lpstr>🤖 ROBOTICS COURSE — SESSION 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Flores Colunga, Gerardo R.</dc:creator>
  <cp:lastModifiedBy>Flores Colunga, Gerardo R.</cp:lastModifiedBy>
  <cp:revision>72</cp:revision>
  <dcterms:created xsi:type="dcterms:W3CDTF">2026-02-04T06:36:40Z</dcterms:created>
  <dcterms:modified xsi:type="dcterms:W3CDTF">2026-04-01T23:25:36Z</dcterms:modified>
</cp:coreProperties>
</file>